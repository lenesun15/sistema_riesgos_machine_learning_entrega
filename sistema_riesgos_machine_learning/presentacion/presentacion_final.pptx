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segundos: presentar el problema, el objetivo y aclarar que es un prototipo con datos sintéticos.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segundos: explicar origen, variables, modelo y línea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segundos: presentar las métricas reales del experimento y sus límites.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minutos: ejecutar la demostración en vivo. Iniciar el backend y abrir frontend/index.html.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minuto: resumir el resultado, limitaciones y mostrar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Clasificación del riesgo de activos de información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Prototipo académico con Random Forest y datos sintéticos</a:t>
            </a:r>
          </a:p>
          <a:p>
            <a:r>
              <a:t>Carrera de Ingeniería de Sistemas Informáticos — UBI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y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1.200 registros sintéticos; semilla 20261021</a:t>
            </a:r>
          </a:p>
          <a:p>
            <a:pPr>
              <a:spcAft>
                <a:spcPts val="1400"/>
              </a:spcAft>
              <a:defRPr sz="2400"/>
            </a:pPr>
            <a:r>
              <a:t>Variables: CIA, exposición a amenazas, vulnerabilidades, controles y respaldos</a:t>
            </a:r>
          </a:p>
          <a:p>
            <a:pPr>
              <a:spcAft>
                <a:spcPts val="1400"/>
              </a:spcAft>
              <a:defRPr sz="2400"/>
            </a:pPr>
            <a:r>
              <a:t>Línea base: clase mayoritaria</a:t>
            </a:r>
          </a:p>
          <a:p>
            <a:pPr>
              <a:spcAft>
                <a:spcPts val="1400"/>
              </a:spcAft>
              <a:defRPr sz="2400"/>
            </a:pPr>
            <a:r>
              <a:t>Modelo: Random Forest Classifier (250 árboles)</a:t>
            </a:r>
          </a:p>
          <a:p>
            <a:pPr>
              <a:spcAft>
                <a:spcPts val="1400"/>
              </a:spcAft>
              <a:defRPr sz="2400"/>
            </a:pPr>
            <a:r>
              <a:t>Etiquetas generadas con reglas ilustrativas, no con evaluación real de la UBI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Evaluación en el conjunto de prueba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Línea base — F1 macro: 0.175; exactitud: 0.356</a:t>
            </a:r>
          </a:p>
          <a:p>
            <a:pPr>
              <a:spcAft>
                <a:spcPts val="1400"/>
              </a:spcAft>
              <a:defRPr sz="2400"/>
            </a:pPr>
            <a:r>
              <a:t>Random Forest — F1 macro: 0.726; exactitud: 0.722</a:t>
            </a:r>
          </a:p>
          <a:p>
            <a:pPr>
              <a:spcAft>
                <a:spcPts val="1400"/>
              </a:spcAft>
              <a:defRPr sz="2400"/>
            </a:pPr>
            <a:r>
              <a:t>F1 ponderado de Random Forest: 0.722</a:t>
            </a:r>
          </a:p>
          <a:p>
            <a:pPr>
              <a:spcAft>
                <a:spcPts val="1400"/>
              </a:spcAft>
              <a:defRPr sz="2400"/>
            </a:pPr>
            <a:r>
              <a:t>Resultados únicamente sintéticos; no representan el rendimiento real en la UBI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Demostración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1. Abrir el formulario web</a:t>
            </a:r>
          </a:p>
          <a:p>
            <a:pPr>
              <a:spcAft>
                <a:spcPts val="1400"/>
              </a:spcAft>
              <a:defRPr sz="2400"/>
            </a:pPr>
            <a:r>
              <a:t>2. Ingresar un caso válido y ejecutar la clasificación</a:t>
            </a:r>
          </a:p>
          <a:p>
            <a:pPr>
              <a:spcAft>
                <a:spcPts val="1400"/>
              </a:spcAft>
              <a:defRPr sz="2400"/>
            </a:pPr>
            <a:r>
              <a:t>3. Mostrar la respuesta generada por la API y el modelo</a:t>
            </a:r>
          </a:p>
          <a:p>
            <a:pPr>
              <a:spcAft>
                <a:spcPts val="1400"/>
              </a:spcAft>
              <a:defRPr sz="2400"/>
            </a:pPr>
            <a:r>
              <a:t>4. Probar un caso difícil y una entrada inválida</a:t>
            </a:r>
          </a:p>
          <a:p>
            <a:pPr>
              <a:spcAft>
                <a:spcPts val="1400"/>
              </a:spcAft>
              <a:defRPr sz="2400"/>
            </a:pPr>
            <a:r>
              <a:t>5. Si falla la conexión, usar capturas reales como respaldo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Conclusiones, límites y entrega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Se integran dataset, entrenamiento, evaluación, API y frontend</a:t>
            </a:r>
          </a:p>
          <a:p>
            <a:pPr>
              <a:spcAft>
                <a:spcPts val="1400"/>
              </a:spcAft>
              <a:defRPr sz="2400"/>
            </a:pPr>
            <a:r>
              <a:t>La calidad de las etiquetas condiciona el resultado</a:t>
            </a:r>
          </a:p>
          <a:p>
            <a:pPr>
              <a:spcAft>
                <a:spcPts val="1400"/>
              </a:spcAft>
              <a:defRPr sz="2400"/>
            </a:pPr>
            <a:r>
              <a:t>Los datos sintéticos no prueban el riesgo real de activos institucionales</a:t>
            </a:r>
          </a:p>
          <a:p>
            <a:pPr>
              <a:spcAft>
                <a:spcPts val="1400"/>
              </a:spcAft>
              <a:defRPr sz="2400"/>
            </a:pPr>
            <a:r>
              <a:t>Trabajo futuro: validar con datos autorizados y criterios aprobados</a:t>
            </a:r>
          </a:p>
          <a:p>
            <a:pPr>
              <a:spcAft>
                <a:spcPts val="1400"/>
              </a:spcAft>
              <a:defRPr sz="2400"/>
            </a:pPr>
            <a:r>
              <a:t>Repositorio: agregar aquí el enlace Git y el commit/tag 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